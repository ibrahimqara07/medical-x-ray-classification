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27F4F-0739-4B44-AE68-08FA176E064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1A2C4-20A8-4F0F-AE72-93AFBE1A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08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1A2C4-20A8-4F0F-AE72-93AFBE1AEC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DEB42B-7AE3-DC9B-DE77-131C77988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281680" y="4180840"/>
            <a:ext cx="1676400" cy="350520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BE485D-12C1-1485-8435-4EEC251B1D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22580" y="3751778"/>
            <a:ext cx="84988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Ibrahim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Garazada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ID: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Number and 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14 – Medical X-Ray Classification using Transfer Learning (ResNet18)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Chest X-Ray Images (Pneumonia)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Classes: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(Normal, Pneumonia)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88%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98.9%, which is significantly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than the target accuracy (98.9% &gt; 88%)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FD217C-85FC-F8B2-F94B-9EAD694B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17" y="630237"/>
            <a:ext cx="2717483" cy="271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0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Training &amp; Hyperparameter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715" y="1332865"/>
            <a:ext cx="8312785" cy="5027930"/>
          </a:xfrm>
        </p:spPr>
        <p:txBody>
          <a:bodyPr>
            <a:normAutofit fontScale="25000" lnSpcReduction="20000"/>
          </a:bodyPr>
          <a:lstStyle/>
          <a:p>
            <a:r>
              <a:rPr lang="en-US" b="1" dirty="0"/>
              <a:t>Model Architecture</a:t>
            </a:r>
          </a:p>
          <a:p>
            <a:r>
              <a:rPr lang="en-US" b="1" dirty="0"/>
              <a:t>Input:</a:t>
            </a:r>
            <a:r>
              <a:rPr lang="en-US" dirty="0"/>
              <a:t> 224 × 224 grayscale chest X-ray images</a:t>
            </a:r>
            <a:br>
              <a:rPr lang="en-US" dirty="0"/>
            </a:br>
            <a:r>
              <a:rPr lang="en-US" dirty="0"/>
              <a:t>(converted to 3 channels to match the input requirements of ResNet18)</a:t>
            </a:r>
          </a:p>
          <a:p>
            <a:r>
              <a:rPr lang="en-US" b="1" dirty="0"/>
              <a:t>Backbone:</a:t>
            </a:r>
            <a:r>
              <a:rPr lang="en-US" dirty="0"/>
              <a:t> Pre-trained </a:t>
            </a:r>
            <a:r>
              <a:rPr lang="en-US" b="1" dirty="0"/>
              <a:t>ResNet18</a:t>
            </a:r>
            <a:r>
              <a:rPr lang="en-US" dirty="0"/>
              <a:t> (ImageNet weights)</a:t>
            </a:r>
          </a:p>
          <a:p>
            <a:r>
              <a:rPr lang="en-US" b="1" dirty="0"/>
              <a:t>Feature Extractor:</a:t>
            </a:r>
            <a:endParaRPr lang="en-US" dirty="0"/>
          </a:p>
          <a:p>
            <a:pPr lvl="1"/>
            <a:r>
              <a:rPr lang="en-US" dirty="0"/>
              <a:t>All convolutional layers are </a:t>
            </a:r>
            <a:r>
              <a:rPr lang="en-US" b="1" dirty="0"/>
              <a:t>frozen</a:t>
            </a:r>
            <a:r>
              <a:rPr lang="en-US" dirty="0"/>
              <a:t> (</a:t>
            </a:r>
            <a:r>
              <a:rPr lang="en-US" dirty="0" err="1"/>
              <a:t>requires_grad</a:t>
            </a:r>
            <a:r>
              <a:rPr lang="en-US" dirty="0"/>
              <a:t> = False)</a:t>
            </a:r>
          </a:p>
          <a:p>
            <a:r>
              <a:rPr lang="en-US" b="1" dirty="0"/>
              <a:t>Classifier (Modified Fully Connected Layer):</a:t>
            </a:r>
            <a:endParaRPr lang="en-US" dirty="0"/>
          </a:p>
          <a:p>
            <a:pPr lvl="1"/>
            <a:r>
              <a:rPr lang="en-US" dirty="0"/>
              <a:t>Linear layer with </a:t>
            </a:r>
            <a:r>
              <a:rPr lang="en-US" b="1" dirty="0"/>
              <a:t>512 input features and 2 output classes</a:t>
            </a:r>
            <a:endParaRPr lang="en-US" dirty="0"/>
          </a:p>
          <a:p>
            <a:r>
              <a:rPr lang="en-US" b="1" dirty="0"/>
              <a:t>Output Classes:</a:t>
            </a:r>
            <a:endParaRPr lang="en-US" dirty="0"/>
          </a:p>
          <a:p>
            <a:pPr lvl="1"/>
            <a:r>
              <a:rPr lang="en-US" dirty="0"/>
              <a:t>Normal</a:t>
            </a:r>
          </a:p>
          <a:p>
            <a:pPr lvl="1"/>
            <a:r>
              <a:rPr lang="en-US" dirty="0"/>
              <a:t>Pneumonia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Training Configuration</a:t>
            </a:r>
          </a:p>
          <a:p>
            <a:r>
              <a:rPr lang="en-US" b="1" dirty="0"/>
              <a:t>Version 1</a:t>
            </a:r>
          </a:p>
          <a:p>
            <a:r>
              <a:rPr lang="en-US" b="1" dirty="0"/>
              <a:t>Optimizer:</a:t>
            </a:r>
            <a:r>
              <a:rPr lang="en-US" dirty="0"/>
              <a:t> Adam</a:t>
            </a:r>
          </a:p>
          <a:p>
            <a:r>
              <a:rPr lang="en-US" b="1" dirty="0"/>
              <a:t>Learning Rate:</a:t>
            </a:r>
            <a:r>
              <a:rPr lang="en-US" dirty="0"/>
              <a:t> 0.0001</a:t>
            </a:r>
          </a:p>
          <a:p>
            <a:r>
              <a:rPr lang="en-US" b="1" dirty="0"/>
              <a:t>Batch Size:</a:t>
            </a:r>
            <a:r>
              <a:rPr lang="en-US" dirty="0"/>
              <a:t> 32</a:t>
            </a:r>
          </a:p>
          <a:p>
            <a:r>
              <a:rPr lang="en-US" b="1" dirty="0"/>
              <a:t>Epochs:</a:t>
            </a:r>
            <a:r>
              <a:rPr lang="en-US" dirty="0"/>
              <a:t> 10</a:t>
            </a:r>
          </a:p>
          <a:p>
            <a:r>
              <a:rPr lang="en-US" b="1" dirty="0"/>
              <a:t>Version 2</a:t>
            </a:r>
          </a:p>
          <a:p>
            <a:r>
              <a:rPr lang="en-US" b="1" dirty="0"/>
              <a:t>Optimizer:</a:t>
            </a:r>
            <a:r>
              <a:rPr lang="en-US" dirty="0"/>
              <a:t> SGD</a:t>
            </a:r>
          </a:p>
          <a:p>
            <a:r>
              <a:rPr lang="en-US" b="1" dirty="0"/>
              <a:t>Momentum:</a:t>
            </a:r>
            <a:r>
              <a:rPr lang="en-US" dirty="0"/>
              <a:t> 0.9</a:t>
            </a:r>
          </a:p>
          <a:p>
            <a:r>
              <a:rPr lang="en-US" b="1" dirty="0"/>
              <a:t>Learning Rate:</a:t>
            </a:r>
            <a:r>
              <a:rPr lang="en-US" dirty="0"/>
              <a:t> 0.001</a:t>
            </a:r>
          </a:p>
          <a:p>
            <a:r>
              <a:rPr lang="en-US" b="1" dirty="0"/>
              <a:t>Batch Size:</a:t>
            </a:r>
            <a:r>
              <a:rPr lang="en-US" dirty="0"/>
              <a:t> 32</a:t>
            </a:r>
          </a:p>
          <a:p>
            <a:r>
              <a:rPr lang="en-US" b="1" dirty="0"/>
              <a:t>Epochs:</a:t>
            </a:r>
            <a:r>
              <a:rPr lang="en-US" dirty="0"/>
              <a:t> 10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Comparison Results</a:t>
            </a:r>
          </a:p>
          <a:p>
            <a:r>
              <a:rPr lang="en-US" b="1" dirty="0"/>
              <a:t>Version 1 (Adam, LR = 0.0001):</a:t>
            </a:r>
            <a:br>
              <a:rPr lang="en-US" dirty="0"/>
            </a:br>
            <a:r>
              <a:rPr lang="en-US" dirty="0"/>
              <a:t>Test Accuracy = </a:t>
            </a:r>
            <a:r>
              <a:rPr lang="en-US" b="1" dirty="0"/>
              <a:t>higher overall performance</a:t>
            </a:r>
            <a:endParaRPr lang="en-US" dirty="0"/>
          </a:p>
          <a:p>
            <a:r>
              <a:rPr lang="en-US" b="1" dirty="0"/>
              <a:t>Version 2 (SGD, LR = 0.001):</a:t>
            </a:r>
            <a:br>
              <a:rPr lang="en-US" dirty="0"/>
            </a:br>
            <a:r>
              <a:rPr lang="en-US" dirty="0"/>
              <a:t>Test Accuracy = </a:t>
            </a:r>
            <a:r>
              <a:rPr lang="en-US" b="1" dirty="0"/>
              <a:t>slightly lower than Version 1</a:t>
            </a:r>
            <a:endParaRPr lang="en-US" dirty="0"/>
          </a:p>
          <a:p>
            <a:r>
              <a:rPr lang="en-US" dirty="0"/>
              <a:t>The model with the best accuracy was selected for further evaluation using a confusion matrix and qualitative prediction examples.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Analysis</a:t>
            </a:r>
          </a:p>
          <a:p>
            <a:r>
              <a:rPr lang="en-US" dirty="0"/>
              <a:t>Version 1, which uses the </a:t>
            </a:r>
            <a:r>
              <a:rPr lang="en-US" b="1" dirty="0"/>
              <a:t>Adam optimizer</a:t>
            </a:r>
            <a:r>
              <a:rPr lang="en-US" dirty="0"/>
              <a:t>, achieved better overall performance for this transfer learning task. The combination of a lower learning rate and Adam’s adaptive parameter updates allowed for </a:t>
            </a:r>
            <a:r>
              <a:rPr lang="en-US" b="1" dirty="0"/>
              <a:t>smoother and more stable convergence</a:t>
            </a:r>
            <a:r>
              <a:rPr lang="en-US" dirty="0"/>
              <a:t> during training.</a:t>
            </a:r>
          </a:p>
          <a:p>
            <a:r>
              <a:rPr lang="en-US" dirty="0"/>
              <a:t>Freezing the pre-trained ResNet18 layers helped preserve learned feature representations, while training only the final fully connected layer improved generalization on the test dataset. In contrast, Version 2 using SGD required more careful tuning and showed less stable convergence under the same training conditions.</a:t>
            </a:r>
          </a:p>
          <a:p>
            <a:r>
              <a:rPr lang="en-US" dirty="0"/>
              <a:t>As a result, </a:t>
            </a:r>
            <a:r>
              <a:rPr lang="en-US" b="1" dirty="0"/>
              <a:t>Version 1 is considered the best-performing model</a:t>
            </a:r>
            <a:r>
              <a:rPr lang="en-US" dirty="0"/>
              <a:t> for this chest X-ray classification task.</a:t>
            </a:r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4" name="Picture 3" descr="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-3327400" y="5090159"/>
            <a:ext cx="55401" cy="45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E126FE-C733-C455-C8F9-EF018CF6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095" y="1541773"/>
            <a:ext cx="4945190" cy="18681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571183"/>
            <a:ext cx="6390640" cy="1136082"/>
          </a:xfrm>
        </p:spPr>
        <p:txBody>
          <a:bodyPr/>
          <a:lstStyle/>
          <a:p>
            <a:r>
              <a:rPr dirty="0"/>
              <a:t>Best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902301"/>
            <a:ext cx="7376160" cy="3053397"/>
          </a:xfrm>
        </p:spPr>
        <p:txBody>
          <a:bodyPr>
            <a:normAutofit fontScale="32500" lnSpcReduction="20000"/>
          </a:bodyPr>
          <a:lstStyle/>
          <a:p>
            <a:r>
              <a:rPr lang="en-US" b="1" dirty="0"/>
              <a:t>Final Test Accuracy</a:t>
            </a:r>
          </a:p>
          <a:p>
            <a:r>
              <a:rPr lang="en-US" dirty="0"/>
              <a:t>The final model achieved a </a:t>
            </a:r>
            <a:r>
              <a:rPr lang="en-US" b="1" dirty="0"/>
              <a:t>test accuracy of 98.9%</a:t>
            </a:r>
            <a:r>
              <a:rPr lang="en-US" dirty="0"/>
              <a:t>, demonstrating strong performance on the chest X-ray classification task.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Class-wise Analysis</a:t>
            </a:r>
          </a:p>
          <a:p>
            <a:r>
              <a:rPr lang="en-US" b="1" dirty="0"/>
              <a:t>Best Performing Classes:</a:t>
            </a:r>
            <a:endParaRPr lang="en-US" dirty="0"/>
          </a:p>
          <a:p>
            <a:pPr lvl="1"/>
            <a:r>
              <a:rPr lang="en-US" b="1" dirty="0"/>
              <a:t>Normal</a:t>
            </a:r>
            <a:endParaRPr lang="en-US" dirty="0"/>
          </a:p>
          <a:p>
            <a:pPr lvl="1"/>
            <a:r>
              <a:rPr lang="en-US" b="1" dirty="0"/>
              <a:t>Pneumonia</a:t>
            </a:r>
            <a:endParaRPr lang="en-US" dirty="0"/>
          </a:p>
          <a:p>
            <a:r>
              <a:rPr lang="en-US" dirty="0"/>
              <a:t>Both classes show clear and distinctive visual patterns in chest X-ray images. The pre-trained ResNet18 model successfully captured these features, leading to high classification accuracy.</a:t>
            </a:r>
          </a:p>
          <a:p>
            <a:r>
              <a:rPr lang="en-US" b="1" dirty="0"/>
              <a:t>Challenging Cases:</a:t>
            </a:r>
            <a:endParaRPr lang="en-US" dirty="0"/>
          </a:p>
          <a:p>
            <a:pPr lvl="1"/>
            <a:r>
              <a:rPr lang="en-US" dirty="0"/>
              <a:t>Some misclassifications occurred in images where </a:t>
            </a:r>
            <a:r>
              <a:rPr lang="en-US" b="1" dirty="0"/>
              <a:t>visual characteristics overlap</a:t>
            </a:r>
            <a:r>
              <a:rPr lang="en-US" dirty="0"/>
              <a:t>, such as:</a:t>
            </a:r>
          </a:p>
          <a:p>
            <a:pPr lvl="2"/>
            <a:r>
              <a:rPr lang="en-US" dirty="0"/>
              <a:t>Mild pneumonia cases that visually resemble normal lungs</a:t>
            </a:r>
          </a:p>
          <a:p>
            <a:pPr lvl="2"/>
            <a:r>
              <a:rPr lang="en-US" dirty="0"/>
              <a:t>Low-contrast or noisy X-ray images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Error Analysis</a:t>
            </a:r>
          </a:p>
          <a:p>
            <a:r>
              <a:rPr lang="en-US" dirty="0"/>
              <a:t>Most classification errors were caused by </a:t>
            </a:r>
            <a:r>
              <a:rPr lang="en-US" b="1" dirty="0"/>
              <a:t>visual similarity between classes</a:t>
            </a:r>
            <a:r>
              <a:rPr lang="en-US" dirty="0"/>
              <a:t>, especially in borderline cases where pathological signs are subtle. Variations in image quality, lighting, and anatomical structure also contributed to incorrect predictions.</a:t>
            </a:r>
          </a:p>
          <a:p>
            <a:r>
              <a:rPr lang="en-US" dirty="0"/>
              <a:t>Overall, the errors are limited and do not significantly impact the model’s strong generalization performance.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3285905" y="1247365"/>
            <a:ext cx="111632" cy="83724"/>
          </a:xfrm>
          <a:prstGeom prst="rect">
            <a:avLst/>
          </a:prstGeom>
        </p:spPr>
      </p:pic>
      <p:pic>
        <p:nvPicPr>
          <p:cNvPr id="5" name="Picture 4" descr="predda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94442" y="4051139"/>
            <a:ext cx="283641" cy="45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170E5-BF0B-6ADD-EAFC-5248AA684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721" y="180443"/>
            <a:ext cx="2141574" cy="188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5306F-7E46-C0D2-0D1F-0B915904E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150734"/>
            <a:ext cx="8461094" cy="1526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498</Words>
  <Application>Microsoft Office PowerPoint</Application>
  <PresentationFormat>On-screen Show (4:3)</PresentationFormat>
  <Paragraphs>57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Name: Ibrahim Garazada Student ID: 29 Task Number and Title: Task 14 – Medical X-Ray Classification using Transfer Learning (ResNet18) Dataset Name: Chest X-Ray Images (Pneumonia) Number of Classes: 2 (Normal, Pneumonia) Target Accuracy: 88% Achieved Accuracy: 98.9%, which is significantly higher than the target accuracy (98.9% &gt; 88%)</vt:lpstr>
      <vt:lpstr>Training &amp; Hyperparameter Comparison</vt:lpstr>
      <vt:lpstr>Best Model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dc:description>generated using python-pptx</dc:description>
  <cp:lastModifiedBy>User</cp:lastModifiedBy>
  <cp:revision>3</cp:revision>
  <dcterms:created xsi:type="dcterms:W3CDTF">2013-01-27T09:14:00Z</dcterms:created>
  <dcterms:modified xsi:type="dcterms:W3CDTF">2025-12-24T11:09:59Z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33CBB354724D461BABCB66C1C8FC6210_13</vt:lpwstr>
  </property>
  <property fmtid="{D5CDD505-2E9C-101B-9397-08002B2CF9AE}" pid="3" name="KSOProductBuildVer">
    <vt:lpwstr>1033-12.2.0.23155</vt:lpwstr>
  </property>
</Properties>
</file>